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82712" y="-1280160"/>
            <a:ext cx="4754880" cy="4754880"/>
          </a:xfrm>
          <a:prstGeom prst="roundRect">
            <a:avLst>
              <a:gd name="adj" fmla="val 50000"/>
            </a:avLst>
          </a:prstGeom>
          <a:solidFill>
            <a:srgbClr val="FF6A1A">
              <a:alpha val="14000"/>
            </a:srgbClr>
          </a:solidFill>
          <a:ln/>
        </p:spPr>
      </p:sp>
      <p:pic>
        <p:nvPicPr>
          <p:cNvPr id="3" name="Image 0" descr="/home/user/forgeron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822960"/>
            <a:ext cx="1051560" cy="1051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6928" y="20574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FORGERON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3063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premier contrôleur CNC 5-axes </a:t>
            </a:r>
            <a:pPr indent="0" marL="0">
              <a:buNone/>
            </a:pPr>
            <a:r>
              <a:rPr lang="en-US" sz="24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piloté par IA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365760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Pensé pour l'industrie africaine — un microcontrôleur à 8 $ transformé en machine-outil qu'on opère en langage naturel.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5806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Lamine SACKO</a:t>
            </a:r>
            <a:pPr indent="0" marL="0">
              <a:buNone/>
            </a:pPr>
            <a:r>
              <a:rPr lang="en-US" sz="13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Fondateur &amp; Ingénieur   ·   Mali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6144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UNIPOD AI Innovation Pipeline · timbuktoo / UNDP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FF6A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1133856" y="420624"/>
            <a:ext cx="10506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3502152" cy="2331720"/>
          </a:xfrm>
          <a:prstGeom prst="roundRect">
            <a:avLst>
              <a:gd name="adj" fmla="val 3529"/>
            </a:avLst>
          </a:prstGeom>
          <a:solidFill>
            <a:srgbClr val="242E3B"/>
          </a:solidFill>
          <a:ln w="12700">
            <a:solidFill>
              <a:srgbClr val="2B36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673352"/>
            <a:ext cx="3136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5 000 – 50 000 $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2514600"/>
            <a:ext cx="3099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d'un contrôleur CNC 5-axes industriel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38328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catalogues Fanuc / Heidenhain / Siemens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502152" cy="2331720"/>
          </a:xfrm>
          <a:prstGeom prst="roundRect">
            <a:avLst>
              <a:gd name="adj" fmla="val 3529"/>
            </a:avLst>
          </a:prstGeom>
          <a:solidFill>
            <a:srgbClr val="242E3B"/>
          </a:solidFill>
          <a:ln w="12700">
            <a:solidFill>
              <a:srgbClr val="2B36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673352"/>
            <a:ext cx="3136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2 %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544568" y="2514600"/>
            <a:ext cx="3099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de l'Afrique dans la production manufacturière mondiale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338328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UNIDO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119872" y="1417320"/>
            <a:ext cx="3502152" cy="2331720"/>
          </a:xfrm>
          <a:prstGeom prst="roundRect">
            <a:avLst>
              <a:gd name="adj" fmla="val 3529"/>
            </a:avLst>
          </a:prstGeom>
          <a:solidFill>
            <a:srgbClr val="242E3B"/>
          </a:solidFill>
          <a:ln w="12700">
            <a:solidFill>
              <a:srgbClr val="2B36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02752" y="1673352"/>
            <a:ext cx="3136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⟦ ___ % ⟧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514600"/>
            <a:ext cx="3099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l'outillage &amp; des pièces de précision sont importés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302752" y="338328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⟦ à confirmer ⟧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6928" y="4114800"/>
            <a:ext cx="11055096" cy="1371600"/>
          </a:xfrm>
          <a:prstGeom prst="roundRect">
            <a:avLst>
              <a:gd name="adj" fmla="val 6667"/>
            </a:avLst>
          </a:prstGeom>
          <a:solidFill>
            <a:srgbClr val="2B364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86968" y="4114800"/>
            <a:ext cx="10415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7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+ compétence = les ateliers, fablabs et PME africaines sont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 de la fabrication de précision</a:t>
            </a:r>
            <a:pPr indent="0" marL="0">
              <a:buNone/>
            </a:pPr>
            <a:r>
              <a:rPr lang="en-US" sz="17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La valeur part à l'importation.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Forgeron · Pitch UNIPOD AI 2024 —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FF6A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1133856" y="420624"/>
            <a:ext cx="10506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34440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Forgeron transforme un </a:t>
            </a:r>
            <a:pPr indent="0" marL="0">
              <a:buNone/>
            </a:pPr>
            <a:r>
              <a:rPr lang="en-US" sz="19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à ~8 $</a:t>
            </a:r>
            <a:pPr indent="0" marL="0">
              <a:buNone/>
            </a:pPr>
            <a:r>
              <a:rPr lang="en-US" sz="19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(FluidNC open-source) en 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contrôleur CNC 5-axes industriel</a:t>
            </a:r>
            <a:pPr indent="0" marL="0">
              <a:buNone/>
            </a:pPr>
            <a:r>
              <a:rPr lang="en-US" sz="19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piloté depuis un smartphone.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2788920" cy="1371600"/>
          </a:xfrm>
          <a:prstGeom prst="roundRect">
            <a:avLst>
              <a:gd name="adj" fmla="val 6000"/>
            </a:avLst>
          </a:prstGeom>
          <a:solidFill>
            <a:srgbClr val="242E3B"/>
          </a:solidFill>
          <a:ln w="12700">
            <a:solidFill>
              <a:srgbClr val="2B36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256032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BE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~8 $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2461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contrôleur Forgeron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401568" y="2331720"/>
            <a:ext cx="868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FF6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−99 %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270248" y="2331720"/>
            <a:ext cx="2788920" cy="1371600"/>
          </a:xfrm>
          <a:prstGeom prst="roundRect">
            <a:avLst>
              <a:gd name="adj" fmla="val 6000"/>
            </a:avLst>
          </a:prstGeom>
          <a:solidFill>
            <a:srgbClr val="242E3B"/>
          </a:solidFill>
          <a:ln w="12700">
            <a:solidFill>
              <a:srgbClr val="2B36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70248" y="256032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5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5 000 $+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4270248" y="32461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contrôleurs industriels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95160" y="2331720"/>
            <a:ext cx="4626864" cy="1371600"/>
          </a:xfrm>
          <a:prstGeom prst="roundRect">
            <a:avLst>
              <a:gd name="adj" fmla="val 6000"/>
            </a:avLst>
          </a:prstGeom>
          <a:solidFill>
            <a:srgbClr val="242E3B"/>
          </a:solidFill>
          <a:ln w="12700">
            <a:solidFill>
              <a:srgbClr val="2B36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78040" y="2331720"/>
            <a:ext cx="44439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 temps réel · Jog 5 axes · Streaming G-code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Visualiseur 3D Trunnion · Palpage · WCS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matérielle (arrêt d'urgence, watchdog)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4114800"/>
            <a:ext cx="11055096" cy="1371600"/>
          </a:xfrm>
          <a:prstGeom prst="roundRect">
            <a:avLst>
              <a:gd name="adj" fmla="val 6667"/>
            </a:avLst>
          </a:prstGeom>
          <a:solidFill>
            <a:srgbClr val="172A45"/>
          </a:solidFill>
          <a:ln w="12700">
            <a:solidFill>
              <a:srgbClr val="2C4A7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86968" y="4114800"/>
            <a:ext cx="10415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8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un agent IA</a:t>
            </a:r>
            <a:pPr indent="0" marL="0">
              <a:buNone/>
            </a:pPr>
            <a:r>
              <a:rPr lang="en-US" sz="18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qui pilote la machine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langage naturel</a:t>
            </a:r>
            <a:pPr indent="0" marL="0">
              <a:buNone/>
            </a:pPr>
            <a:r>
              <a:rPr lang="en-US" sz="18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l'opérateur parle, la machine exécute, sans risque de collision.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Forgeron · Pitch UNIPOD AI 2024 —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FF6A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1133856" y="420624"/>
            <a:ext cx="10506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produit — déjà réel</a:t>
            </a:r>
            <a:endParaRPr lang="en-US" sz="2800" dirty="0"/>
          </a:p>
        </p:txBody>
      </p:sp>
      <p:pic>
        <p:nvPicPr>
          <p:cNvPr id="4" name="Image 0" descr="/home/user/forgeron/scratch/phon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325880"/>
            <a:ext cx="10908792" cy="3840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96696" y="5257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 contrôle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636008" y="5257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— function calling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5257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physique construite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566928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fonctionnelle + machine 5-axes réelle, démontrée de bout en bout sur matériel réel.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Forgeron · Pitch UNIPOD AI 2024 —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4C8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1133856" y="420624"/>
            <a:ext cx="10506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IA qui pilote la machine — en toute sécurité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3502152" cy="2468880"/>
          </a:xfrm>
          <a:prstGeom prst="roundRect">
            <a:avLst>
              <a:gd name="adj" fmla="val 3333"/>
            </a:avLst>
          </a:prstGeom>
          <a:solidFill>
            <a:srgbClr val="242E3B"/>
          </a:solidFill>
          <a:ln w="12700">
            <a:solidFill>
              <a:srgbClr val="2B36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" y="164592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4C8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224028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agentique sûr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95528" y="2880360"/>
            <a:ext cx="3044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function calling · 12 outils · permissions par outil · arrêt d'urgence prioritaire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502152" cy="2468880"/>
          </a:xfrm>
          <a:prstGeom prst="roundRect">
            <a:avLst>
              <a:gd name="adj" fmla="val 3333"/>
            </a:avLst>
          </a:prstGeom>
          <a:solidFill>
            <a:srgbClr val="242E3B"/>
          </a:solidFill>
          <a:ln w="12700">
            <a:solidFill>
              <a:srgbClr val="2B36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164592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4C8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24028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lookahead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880360"/>
            <a:ext cx="3044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simule toute la trajectoire vs limites réelles AVANT tout mouvement → zéro collision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19872" y="1417320"/>
            <a:ext cx="3502152" cy="2468880"/>
          </a:xfrm>
          <a:prstGeom prst="roundRect">
            <a:avLst>
              <a:gd name="adj" fmla="val 3333"/>
            </a:avLst>
          </a:prstGeom>
          <a:solidFill>
            <a:srgbClr val="242E3B"/>
          </a:solidFill>
          <a:ln w="12700">
            <a:solidFill>
              <a:srgbClr val="2B36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48472" y="164592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4C8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48472" y="224028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Résilience &amp; coût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348472" y="2880360"/>
            <a:ext cx="3044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appels IA en 4G/5G · repli multi-modèles · 500 requêtes/jour gratuites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160520"/>
            <a:ext cx="11055096" cy="1371600"/>
          </a:xfrm>
          <a:prstGeom prst="roundRect">
            <a:avLst>
              <a:gd name="adj" fmla="val 6667"/>
            </a:avLst>
          </a:prstGeom>
          <a:solidFill>
            <a:srgbClr val="2B364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86968" y="4160520"/>
            <a:ext cx="10415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maintenant ?  </a:t>
            </a:r>
            <a:pPr indent="0" marL="0">
              <a:buNone/>
            </a:pPr>
            <a:r>
              <a:rPr lang="en-US" sz="15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hardware CNC est devenu quasi gratuit (FluidNC/ESP32) et le function-calling rend le pilotage en langage naturel fiable.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avantage = la couche de sécurité, pas le modèle.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Forgeron · Pitch UNIPOD AI 2024 —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FF6A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1133856" y="420624"/>
            <a:ext cx="10506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marché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5096" cy="914400"/>
          </a:xfrm>
          <a:prstGeom prst="roundRect">
            <a:avLst>
              <a:gd name="adj" fmla="val 9000"/>
            </a:avLst>
          </a:prstGeom>
          <a:solidFill>
            <a:srgbClr val="242E3B"/>
          </a:solidFill>
          <a:ln w="12700">
            <a:solidFill>
              <a:srgbClr val="2B36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481328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2304288" y="13716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Afrique — ateliers, fablabs, écoles techniques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76288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~150 000 unités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878824" y="13716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15 Mds FCFA / an
</a:t>
            </a:r>
            <a:pPr algn="r" indent="0" marL="0">
              <a:buNone/>
            </a:pPr>
            <a:r>
              <a:rPr lang="en-US" sz="1200" dirty="0">
                <a:solidFill>
                  <a:srgbClr val="FF6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25 M$ / an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2395728"/>
            <a:ext cx="11055096" cy="914400"/>
          </a:xfrm>
          <a:prstGeom prst="roundRect">
            <a:avLst>
              <a:gd name="adj" fmla="val 9000"/>
            </a:avLst>
          </a:prstGeom>
          <a:solidFill>
            <a:srgbClr val="242E3B"/>
          </a:solidFill>
          <a:ln w="12700">
            <a:solidFill>
              <a:srgbClr val="2B36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2505456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2304288" y="239572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Afrique de l'Ouest francophone (3–5 ans)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76288" y="239572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~15 000 unités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878824" y="2395728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1,5 Md FCFA / an
</a:t>
            </a:r>
            <a:pPr algn="r" indent="0" marL="0">
              <a:buNone/>
            </a:pPr>
            <a:r>
              <a:rPr lang="en-US" sz="120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2,5 M$ / an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3419856"/>
            <a:ext cx="11055096" cy="914400"/>
          </a:xfrm>
          <a:prstGeom prst="roundRect">
            <a:avLst>
              <a:gd name="adj" fmla="val 9000"/>
            </a:avLst>
          </a:prstGeom>
          <a:solidFill>
            <a:srgbClr val="242E3B"/>
          </a:solidFill>
          <a:ln w="12700">
            <a:solidFill>
              <a:srgbClr val="2B364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3529584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2304288" y="3419856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 + amorçage régional (2 ans, +40 %/an)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876288" y="3419856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 unités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878824" y="3419856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30 M FCFA / an
</a:t>
            </a:r>
            <a:pPr algn="r" indent="0" marL="0">
              <a:buNone/>
            </a:pPr>
            <a:r>
              <a:rPr lang="en-US" sz="120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50 k$ / an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66928" y="4480560"/>
            <a:ext cx="11055096" cy="960120"/>
          </a:xfrm>
          <a:prstGeom prst="roundRect">
            <a:avLst>
              <a:gd name="adj" fmla="val 9524"/>
            </a:avLst>
          </a:prstGeom>
          <a:solidFill>
            <a:srgbClr val="2B364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86968" y="4480560"/>
            <a:ext cx="10415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actuellement servie par une solution locale abordable : </a:t>
            </a:r>
            <a:pPr indent="0" marL="0">
              <a:buNone/>
            </a:pPr>
            <a:r>
              <a:rPr lang="en-US" sz="1800" b="1" dirty="0">
                <a:solidFill>
                  <a:srgbClr val="1EBE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0 %</a:t>
            </a:r>
            <a:pPr indent="0" marL="0">
              <a:buNone/>
            </a:pPr>
            <a:r>
              <a:rPr lang="en-US" sz="15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le marché est capté par des contrôleurs importés, chers et fermés.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553212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Estimations à valider (customer discovery / Wadhwani) · hypothèse revenu ≈ 100 000 FCFA / client / an (Pro + hardware amorti).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Forgeron · Pitch UNIPOD AI 2024 —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FF6A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1133856" y="420624"/>
            <a:ext cx="10506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2558034" cy="2651760"/>
          </a:xfrm>
          <a:prstGeom prst="roundRect">
            <a:avLst>
              <a:gd name="adj" fmla="val 3217"/>
            </a:avLst>
          </a:prstGeom>
          <a:solidFill>
            <a:srgbClr val="242E3B"/>
          </a:solidFill>
          <a:ln w="12700">
            <a:solidFill>
              <a:srgbClr val="2B36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571625" y="18288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2514600"/>
            <a:ext cx="22837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freemium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063240"/>
            <a:ext cx="21922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de base gratuit → adoption dans les fablabs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106674" y="260604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99282" y="1554480"/>
            <a:ext cx="2558034" cy="2651760"/>
          </a:xfrm>
          <a:prstGeom prst="roundRect">
            <a:avLst>
              <a:gd name="adj" fmla="val 3217"/>
            </a:avLst>
          </a:prstGeom>
          <a:solidFill>
            <a:srgbClr val="242E3B"/>
          </a:solidFill>
          <a:ln w="12700">
            <a:solidFill>
              <a:srgbClr val="2B36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03979" y="18288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8C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536442" y="2514600"/>
            <a:ext cx="22837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 Pro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82162" y="3063240"/>
            <a:ext cx="21922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IA, multi-machines, analytics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939028" y="260604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31636" y="1554480"/>
            <a:ext cx="2558034" cy="2651760"/>
          </a:xfrm>
          <a:prstGeom prst="roundRect">
            <a:avLst>
              <a:gd name="adj" fmla="val 3217"/>
            </a:avLst>
          </a:prstGeom>
          <a:solidFill>
            <a:srgbClr val="242E3B"/>
          </a:solidFill>
          <a:ln w="12700">
            <a:solidFill>
              <a:srgbClr val="2B364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36333" y="18288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B34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368796" y="2514600"/>
            <a:ext cx="22837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 hardware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14516" y="3063240"/>
            <a:ext cx="21922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drivers pré-flashés &amp; calibrés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771382" y="260604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063990" y="1554480"/>
            <a:ext cx="2558034" cy="2651760"/>
          </a:xfrm>
          <a:prstGeom prst="roundRect">
            <a:avLst>
              <a:gd name="adj" fmla="val 3217"/>
            </a:avLst>
          </a:prstGeom>
          <a:solidFill>
            <a:srgbClr val="242E3B"/>
          </a:solidFill>
          <a:ln w="12700">
            <a:solidFill>
              <a:srgbClr val="2B364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68687" y="18288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EBE7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9201150" y="2514600"/>
            <a:ext cx="22837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246870" y="3063240"/>
            <a:ext cx="21922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Configs machines &amp; macros vérifiées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34840"/>
            <a:ext cx="11055096" cy="960120"/>
          </a:xfrm>
          <a:prstGeom prst="roundRect">
            <a:avLst>
              <a:gd name="adj" fmla="val 9524"/>
            </a:avLst>
          </a:prstGeom>
          <a:solidFill>
            <a:srgbClr val="2B364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86968" y="4434840"/>
            <a:ext cx="10415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 moyen visé ≈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100 000 FCFA / client / an</a:t>
            </a:r>
            <a:pPr indent="0" marL="0">
              <a:buNone/>
            </a:pPr>
            <a:r>
              <a:rPr lang="en-US" sz="145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faible coût d'entrée, revenu récurrent, hardware comme accélérateur.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Forgeron · Pitch UNIPOD AI 2024 —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FF6A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1133856" y="420624"/>
            <a:ext cx="10506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 au marché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394960" cy="3931920"/>
          </a:xfrm>
          <a:prstGeom prst="roundRect">
            <a:avLst>
              <a:gd name="adj" fmla="val 2093"/>
            </a:avLst>
          </a:prstGeom>
          <a:solidFill>
            <a:srgbClr val="242E3B"/>
          </a:solidFill>
          <a:ln w="12700">
            <a:solidFill>
              <a:srgbClr val="2B36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Cibles prioritaires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10312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Fablabs &amp; makerspaces (réseau AfriLabs)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Écoles techniques &amp; TVET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Ateliers d'usinage &amp; PME (via Kouratechnique)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Fabricants de kits CNC (2e temps)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12664" cy="3931920"/>
          </a:xfrm>
          <a:prstGeom prst="roundRect">
            <a:avLst>
              <a:gd name="adj" fmla="val 2093"/>
            </a:avLst>
          </a:prstGeom>
          <a:solidFill>
            <a:srgbClr val="242E3B"/>
          </a:solidFill>
          <a:ln w="12700">
            <a:solidFill>
              <a:srgbClr val="2B36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Canaux &amp; phasage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103120"/>
            <a:ext cx="48554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Démos &amp; vidéos courtes, bouche-à-oreille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Partenariats institutionnels (écoles, hubs)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 certifiés = entrée hardware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 → Afrique de l'Ouest francophone → continent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Forgeron · Pitch UNIPOD AI 2024 —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FF6A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1133856" y="420624"/>
            <a:ext cx="10506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5096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862072"/>
                <a:gridCol w="2862072"/>
                <a:gridCol w="286207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6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Contrôleurs propriétaires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6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Senders GRBL gratuits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6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8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Forgeron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64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6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567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5 000–50 000 $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BE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 / gratuit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BE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~8 $ + app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E3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axes réels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6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BE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567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BE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E3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/ langage naturel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6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567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567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BE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E3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Sécurité anti-collision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6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AEC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 (fermée)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567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BE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Lookahead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E3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Ouvert &amp; abordable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6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567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AEC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Ouvert mais limité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BE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18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E3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521208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ctr" indent="0" marL="0">
              <a:buNone/>
            </a:pPr>
            <a:r>
              <a:rPr lang="en-US" sz="15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Forgeron occupe le trou du marché : 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abordable + 5 axes + IA sûre.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Forgeron · Pitch UNIPOD AI 2024 —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1EBE7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1133856" y="420624"/>
            <a:ext cx="10506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2800" dirty="0"/>
          </a:p>
        </p:txBody>
      </p:sp>
      <p:pic>
        <p:nvPicPr>
          <p:cNvPr id="4" name="Image 0" descr="/home/user/forgeron/scratch/mach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371600"/>
            <a:ext cx="2743200" cy="3291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5-axes réelle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566160" y="1371600"/>
            <a:ext cx="3845052" cy="1051560"/>
          </a:xfrm>
          <a:prstGeom prst="roundRect">
            <a:avLst>
              <a:gd name="adj" fmla="val 7826"/>
            </a:avLst>
          </a:prstGeom>
          <a:solidFill>
            <a:srgbClr val="2B3644"/>
          </a:solidFill>
          <a:ln w="12700">
            <a:solidFill>
              <a:srgbClr val="2B36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566160" y="1481328"/>
            <a:ext cx="38450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⟦ ___ FCFA ⟧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3566160" y="1965960"/>
            <a:ext cx="38450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de construction de la machine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76972" y="1371600"/>
            <a:ext cx="3845052" cy="1051560"/>
          </a:xfrm>
          <a:prstGeom prst="roundRect">
            <a:avLst>
              <a:gd name="adj" fmla="val 7826"/>
            </a:avLst>
          </a:prstGeom>
          <a:solidFill>
            <a:srgbClr val="2B3644"/>
          </a:solidFill>
          <a:ln w="12700">
            <a:solidFill>
              <a:srgbClr val="2B364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6972" y="1481328"/>
            <a:ext cx="38450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⟦ ± __ mm ⟧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7776972" y="1965960"/>
            <a:ext cx="38450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/ tolérance atteinte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566160" y="2560320"/>
            <a:ext cx="8055864" cy="1874520"/>
          </a:xfrm>
          <a:prstGeom prst="roundRect">
            <a:avLst>
              <a:gd name="adj" fmla="val 4390"/>
            </a:avLst>
          </a:prstGeom>
          <a:solidFill>
            <a:srgbClr val="242E3B"/>
          </a:solidFill>
          <a:ln w="12700">
            <a:solidFill>
              <a:srgbClr val="2B364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94760" y="2697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BE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Déjà accompli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840480" y="3063240"/>
            <a:ext cx="7507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3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5-axes physique construite &amp; fonctionnelle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3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 contrôle + agent IA opérationnels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3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 de démonstration + code open-source (GitHub)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3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 intéressé : Kouratechnique ⟦ besoin : __ machines ⟧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3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de 2 (ingénieur + technicien)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566160" y="4526280"/>
            <a:ext cx="8055864" cy="868680"/>
          </a:xfrm>
          <a:prstGeom prst="roundRect">
            <a:avLst>
              <a:gd name="adj" fmla="val 9474"/>
            </a:avLst>
          </a:prstGeom>
          <a:solidFill>
            <a:srgbClr val="2B3644"/>
          </a:solidFill>
          <a:ln w="12700">
            <a:solidFill>
              <a:srgbClr val="2B364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794760" y="4526280"/>
            <a:ext cx="7598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 : </a:t>
            </a:r>
            <a:pPr indent="0" marL="0">
              <a:buNone/>
            </a:pPr>
            <a:r>
              <a:rPr lang="en-US" sz="13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pilotes clients réels · durcissement &amp; edge de l'agent IA · lettre de partenariat Kouratechnique.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Forgeron · Pitch UNIPOD AI 2024 —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FF6A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1133856" y="420624"/>
            <a:ext cx="10506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du soutien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3502152" cy="2194560"/>
          </a:xfrm>
          <a:prstGeom prst="roundRect">
            <a:avLst>
              <a:gd name="adj" fmla="val 3750"/>
            </a:avLst>
          </a:prstGeom>
          <a:solidFill>
            <a:srgbClr val="242E3B"/>
          </a:solidFill>
          <a:ln w="12700">
            <a:solidFill>
              <a:srgbClr val="2B36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" y="164592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F6A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22402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Skilling IA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95528" y="2697480"/>
            <a:ext cx="3044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AI Institute — durcir l'agent, viser l'edge / on-device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502152" cy="2194560"/>
          </a:xfrm>
          <a:prstGeom prst="roundRect">
            <a:avLst>
              <a:gd name="adj" fmla="val 3750"/>
            </a:avLst>
          </a:prstGeom>
          <a:solidFill>
            <a:srgbClr val="242E3B"/>
          </a:solidFill>
          <a:ln w="12700">
            <a:solidFill>
              <a:srgbClr val="2B36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164592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F6A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2402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Pilotes terrain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697480"/>
            <a:ext cx="3044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chez Kouratechnique + ⟦ 2–3 ⟧ ateliers pilotes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19872" y="1417320"/>
            <a:ext cx="3502152" cy="2194560"/>
          </a:xfrm>
          <a:prstGeom prst="roundRect">
            <a:avLst>
              <a:gd name="adj" fmla="val 3750"/>
            </a:avLst>
          </a:prstGeom>
          <a:solidFill>
            <a:srgbClr val="242E3B"/>
          </a:solidFill>
          <a:ln w="12700">
            <a:solidFill>
              <a:srgbClr val="2B36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48472" y="164592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F6A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48472" y="22402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 (Wadhwani)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348472" y="2697480"/>
            <a:ext cx="3044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discovery, business model, go-to-market, investment readiness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840480"/>
            <a:ext cx="11055096" cy="1554480"/>
          </a:xfrm>
          <a:prstGeom prst="roundRect">
            <a:avLst>
              <a:gd name="adj" fmla="val 5294"/>
            </a:avLst>
          </a:prstGeom>
          <a:solidFill>
            <a:srgbClr val="2B3644"/>
          </a:solidFill>
          <a:ln w="12700">
            <a:solidFill>
              <a:srgbClr val="2B36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financement d'amorçage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86968" y="4343400"/>
            <a:ext cx="10415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pièces pour pilotes :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⟦ ___ FCFA ⟧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Développement IA (edge) :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⟦ ___ FCFA ⟧</a:t>
            </a:r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Fonds de roulement : 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⟦ ___ FCFA ⟧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Marketing &amp; démos :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⟦ ___ FCFA ⟧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Forgeron · Pitch UNIPOD AI 2024 —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FF6A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1133856" y="420624"/>
            <a:ext cx="10506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471672" cy="3291840"/>
          </a:xfrm>
          <a:prstGeom prst="roundRect">
            <a:avLst>
              <a:gd name="adj" fmla="val 2500"/>
            </a:avLst>
          </a:prstGeom>
          <a:solidFill>
            <a:srgbClr val="242E3B"/>
          </a:solidFill>
          <a:ln w="12700">
            <a:solidFill>
              <a:srgbClr val="2B36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5564" y="1783080"/>
            <a:ext cx="914400" cy="914400"/>
          </a:xfrm>
          <a:prstGeom prst="ellipse">
            <a:avLst/>
          </a:prstGeom>
          <a:solidFill>
            <a:srgbClr val="FF6A1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845564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04088" y="2834640"/>
            <a:ext cx="319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Lamine SACKO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3218688"/>
            <a:ext cx="319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 &amp; Ingénieur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767328"/>
            <a:ext cx="292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Application, agent IA, firmware/FluidNC, temps réel. A construit Forgeron de bout en bout.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58640" y="1554480"/>
            <a:ext cx="3471672" cy="3291840"/>
          </a:xfrm>
          <a:prstGeom prst="roundRect">
            <a:avLst>
              <a:gd name="adj" fmla="val 2500"/>
            </a:avLst>
          </a:prstGeom>
          <a:solidFill>
            <a:srgbClr val="242E3B"/>
          </a:solidFill>
          <a:ln w="12700">
            <a:solidFill>
              <a:srgbClr val="2B36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37276" y="1783080"/>
            <a:ext cx="914400" cy="914400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37276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495800" y="2834640"/>
            <a:ext cx="319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Aboubacar DIAMOUTÉNÉ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495800" y="3218688"/>
            <a:ext cx="319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Technicien électronique &amp; assemblage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632960" y="3767328"/>
            <a:ext cx="292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Câblage, drivers moteurs (TB6600), montage &amp; tests de la machine.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50352" y="1554480"/>
            <a:ext cx="3471672" cy="3291840"/>
          </a:xfrm>
          <a:prstGeom prst="roundRect">
            <a:avLst>
              <a:gd name="adj" fmla="val 2500"/>
            </a:avLst>
          </a:prstGeom>
          <a:solidFill>
            <a:srgbClr val="242E3B"/>
          </a:solidFill>
          <a:ln w="12700">
            <a:solidFill>
              <a:srgbClr val="2B36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28988" y="1783080"/>
            <a:ext cx="914400" cy="914400"/>
          </a:xfrm>
          <a:prstGeom prst="ellipse">
            <a:avLst/>
          </a:prstGeom>
          <a:solidFill>
            <a:srgbClr val="6E7A8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28988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287512" y="2834640"/>
            <a:ext cx="319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 ouvert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287512" y="3218688"/>
            <a:ext cx="319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/ Commercial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424672" y="3767328"/>
            <a:ext cx="292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commercial &amp; partenariats — profil recherché via le programme.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502920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 : </a:t>
            </a:r>
            <a:pPr algn="ctr" indent="0" marL="0">
              <a:buNone/>
            </a:pPr>
            <a:r>
              <a:rPr lang="en-US" sz="13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Kouratechnique</a:t>
            </a:r>
            <a:pPr algn="ctr" indent="0" marL="0">
              <a:buNone/>
            </a:pPr>
            <a:r>
              <a:rPr lang="en-US" sz="13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(atelier / terrain de test).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Forgeron · Pitch UNIPOD AI 2024 —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65592" y="3200400"/>
            <a:ext cx="4754880" cy="4754880"/>
          </a:xfrm>
          <a:prstGeom prst="roundRect">
            <a:avLst>
              <a:gd name="adj" fmla="val 50000"/>
            </a:avLst>
          </a:prstGeom>
          <a:solidFill>
            <a:srgbClr val="FF6A1A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20624"/>
            <a:ext cx="10506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demande &amp; vision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programme UNIPOD AI nous apporte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91640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FF6A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6733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Skilling IA — </a:t>
            </a:r>
            <a:pPr indent="0" marL="0">
              <a:buNone/>
            </a:pPr>
            <a:r>
              <a:rPr lang="en-US" sz="14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AI Institute — durcir l'agent, edge / on-device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258568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FF6A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22402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Wadhwani (14 sem.) — </a:t>
            </a:r>
            <a:pPr indent="0" marL="0">
              <a:buNone/>
            </a:pPr>
            <a:r>
              <a:rPr lang="en-US" sz="14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→ venture : customer discovery, business model, go-to-market, investment readiness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825496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FF6A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280720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timbuktoo — </a:t>
            </a:r>
            <a:pPr indent="0" marL="0">
              <a:buNone/>
            </a:pPr>
            <a:r>
              <a:rPr lang="en-US" sz="14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mentors, bootcamp d'Addis-Abeba, écosystème &amp; investisseurs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3611880"/>
            <a:ext cx="11055096" cy="1234440"/>
          </a:xfrm>
          <a:prstGeom prst="roundRect">
            <a:avLst>
              <a:gd name="adj" fmla="val 7407"/>
            </a:avLst>
          </a:prstGeom>
          <a:solidFill>
            <a:srgbClr val="242E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86968" y="3611880"/>
            <a:ext cx="104150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2–3 ans : </a:t>
            </a:r>
            <a:pPr indent="0" marL="0">
              <a:buNone/>
            </a:pPr>
            <a:r>
              <a:rPr lang="en-US" sz="155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contrôleurs Forgeron dans les ateliers d'Afrique de l'Ouest et de l'Est — produire localement ce qui est importé, et créer des emplois qualifiés.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512064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Lamine SACKO</a:t>
            </a:r>
            <a:pPr indent="0" marL="0">
              <a:buNone/>
            </a:pPr>
            <a:r>
              <a:rPr lang="en-US" sz="12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sackolamine994@gmail.com   ·   Mali   ·   github.com/professeurp2/forgeron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553212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Forgeron — construisons l'IA qui façonne l'avenir industriel de l'Afrique.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2026-08-30T01:37:11Z</dcterms:created>
  <dcterms:modified xsi:type="dcterms:W3CDTF">2026-08-30T01:37:11Z</dcterms:modified>
</cp:coreProperties>
</file>