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82712" y="-1280160"/>
            <a:ext cx="4754880" cy="4754880"/>
          </a:xfrm>
          <a:prstGeom prst="roundRect">
            <a:avLst>
              <a:gd name="adj" fmla="val 50000"/>
            </a:avLst>
          </a:prstGeom>
          <a:solidFill>
            <a:srgbClr val="FF6A1A">
              <a:alpha val="14000"/>
            </a:srgbClr>
          </a:solidFill>
          <a:ln/>
        </p:spPr>
      </p:sp>
      <p:pic>
        <p:nvPicPr>
          <p:cNvPr id="3" name="Image 0" descr="/home/user/forgeron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822960"/>
            <a:ext cx="1051560" cy="1051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66928" y="20574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FORGERON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063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premier contrôleur CNC 5-axes </a:t>
            </a:r>
            <a:pPr indent="0" marL="0">
              <a:buNone/>
            </a:pPr>
            <a:r>
              <a:rPr lang="en-US" sz="2400" b="1" dirty="0">
                <a:solidFill>
                  <a:srgbClr val="FF8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piloté par IA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6576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Pensé pour l'industrie africaine — un microcontrôleur à 8 $ transformé en machine-outil qu'on opère en langage naturel.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806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Lamine SACKO</a:t>
            </a:r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Fondateur &amp; Ingénieur   ·   Mali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6144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UNIPOD AI Innovation Pipeline · timbuktoo / UNDP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F6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33856" y="420624"/>
            <a:ext cx="10506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4297680" cy="2743200"/>
          </a:xfrm>
          <a:prstGeom prst="roundRect">
            <a:avLst>
              <a:gd name="adj" fmla="val 3000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21488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5 000 – 50 000 $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86968" y="29718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prix d'un contrôleur CNC 5-axes industriel (Fanuc, Heidenhain, Siemens)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0" y="1371600"/>
            <a:ext cx="6135624" cy="822960"/>
          </a:xfrm>
          <a:prstGeom prst="roundRect">
            <a:avLst>
              <a:gd name="adj" fmla="val 10000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0" y="15544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F6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490472"/>
            <a:ext cx="52669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prohibitif
</a:t>
            </a:r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de portée des ateliers et PME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0" y="2331720"/>
            <a:ext cx="6135624" cy="822960"/>
          </a:xfrm>
          <a:prstGeom prst="roundRect">
            <a:avLst>
              <a:gd name="adj" fmla="val 10000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0" y="251460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F6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450592"/>
            <a:ext cx="52669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Systèmes propriétaires &amp; fermés
</a:t>
            </a:r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modifiables, non abordables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0" y="3291840"/>
            <a:ext cx="6135624" cy="822960"/>
          </a:xfrm>
          <a:prstGeom prst="roundRect">
            <a:avLst>
              <a:gd name="adj" fmla="val 10000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34747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F6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410712"/>
            <a:ext cx="52669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Opérateurs hautement qualifiés
</a:t>
            </a:r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compétence rare et chère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617720"/>
            <a:ext cx="11055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50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ateliers, fablabs et PME manufacturières africaines sont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 de la fabrication de précision</a:t>
            </a:r>
            <a:pPr indent="0" marL="0">
              <a:buNone/>
            </a:pPr>
            <a:r>
              <a:rPr lang="en-US" sz="150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et importent outillage, moules, prothèses et pièces qui pourraient être produits localement.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45566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Forgeron · Pitch UNIPOD AI 2024 —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F6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33856" y="420624"/>
            <a:ext cx="10506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8016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Forgeron transforme un microcontrôleur </a:t>
            </a:r>
            <a:pPr indent="0" marL="0">
              <a:buNone/>
            </a:pPr>
            <a:r>
              <a:rPr lang="en-US" sz="1900" b="1" dirty="0">
                <a:solidFill>
                  <a:srgbClr val="FF8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à ~8 $</a:t>
            </a:r>
            <a:pPr indent="0" marL="0">
              <a:buNone/>
            </a:pPr>
            <a:r>
              <a:rPr lang="en-US" sz="190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(firmware open-source FluidNC) en un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contrôleur CNC 5-axes de grade industriel</a:t>
            </a:r>
            <a:pPr indent="0" marL="0">
              <a:buNone/>
            </a:pPr>
            <a:r>
              <a:rPr lang="en-US" sz="190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piloté depuis un smartphone.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2468880"/>
            <a:ext cx="2834640" cy="1280160"/>
          </a:xfrm>
          <a:prstGeom prst="roundRect">
            <a:avLst>
              <a:gd name="adj" fmla="val 6429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26974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B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~8 $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contrôleur Forgeron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447288" y="2468880"/>
            <a:ext cx="640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33088" y="2468880"/>
            <a:ext cx="2834640" cy="1280160"/>
          </a:xfrm>
          <a:prstGeom prst="roundRect">
            <a:avLst>
              <a:gd name="adj" fmla="val 6429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33088" y="26974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5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5 000 $+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133088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contrôleurs industriels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0" y="2468880"/>
            <a:ext cx="4764024" cy="1280160"/>
          </a:xfrm>
          <a:prstGeom prst="roundRect">
            <a:avLst>
              <a:gd name="adj" fmla="val 6429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40880" y="2468880"/>
            <a:ext cx="4581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 temps réel · Jog 5 axes · Streaming G-code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Visualiseur 3D Trunnion · Palpage · WCS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matérielle (arrêt d'urgence, watchdog)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4114800"/>
            <a:ext cx="11055096" cy="1371600"/>
          </a:xfrm>
          <a:prstGeom prst="roundRect">
            <a:avLst>
              <a:gd name="adj" fmla="val 6667"/>
            </a:avLst>
          </a:prstGeom>
          <a:solidFill>
            <a:srgbClr val="172A45"/>
          </a:solidFill>
          <a:ln w="12700">
            <a:solidFill>
              <a:srgbClr val="2C4A7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86968" y="4114800"/>
            <a:ext cx="10415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8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un agent IA</a:t>
            </a:r>
            <a:pPr indent="0" marL="0">
              <a:buNone/>
            </a:pPr>
            <a:r>
              <a:rPr lang="en-US" sz="180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qui pilote la machine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langage naturel</a:t>
            </a:r>
            <a:pPr indent="0" marL="0">
              <a:buNone/>
            </a:pPr>
            <a:r>
              <a:rPr lang="en-US" sz="180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l'opérateur parle, la machine exécute, en toute sécurité.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45566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Forgeron · Pitch UNIPOD AI 2024 —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F6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33856" y="420624"/>
            <a:ext cx="10506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produit — déjà réel</a:t>
            </a:r>
            <a:endParaRPr lang="en-US" sz="2800" dirty="0"/>
          </a:p>
        </p:txBody>
      </p:sp>
      <p:pic>
        <p:nvPicPr>
          <p:cNvPr id="4" name="Image 0" descr="/home/user/forgeron/scratch/phon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325880"/>
            <a:ext cx="10908792" cy="3840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96696" y="52578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 contrôle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636008" y="52578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IA — function calling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52578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physique construite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66928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fonctionnelle + machine 5-axes réelle, démontrée de bout en bout sur matériel réel.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45566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Forgeron · Pitch UNIPOD AI 2024 —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4C8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33856" y="420624"/>
            <a:ext cx="10506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IA qui pilote la machine — en toute sécurité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02152" cy="2468880"/>
          </a:xfrm>
          <a:prstGeom prst="roundRect">
            <a:avLst>
              <a:gd name="adj" fmla="val 3333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4C8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22402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agentique sûr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95528" y="2880360"/>
            <a:ext cx="3044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+ function calling · 12 outils machine · permissions par outil · arrêt d'urgence prioritaire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417320"/>
            <a:ext cx="3502152" cy="2468880"/>
          </a:xfrm>
          <a:prstGeom prst="roundRect">
            <a:avLst>
              <a:gd name="adj" fmla="val 3333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1645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4C8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2402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lookahead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880360"/>
            <a:ext cx="3044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simule toute la trajectoire vs limites mécaniques réelles AVANT tout mouvement → zéro collision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19872" y="1417320"/>
            <a:ext cx="3502152" cy="2468880"/>
          </a:xfrm>
          <a:prstGeom prst="roundRect">
            <a:avLst>
              <a:gd name="adj" fmla="val 3333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48472" y="1645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4C8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48472" y="22402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Résilience connectivité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48472" y="2880360"/>
            <a:ext cx="3044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 IA routés en 4G/5G, téléphone sur le WiFi machine · repli multi-modèles (gratuit)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160520"/>
            <a:ext cx="11055096" cy="1371600"/>
          </a:xfrm>
          <a:prstGeom prst="roundRect">
            <a:avLst>
              <a:gd name="adj" fmla="val 6667"/>
            </a:avLst>
          </a:prstGeom>
          <a:solidFill>
            <a:srgbClr val="2B36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86968" y="4160520"/>
            <a:ext cx="10415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maintenant ?  </a:t>
            </a:r>
            <a:pPr indent="0" marL="0">
              <a:buNone/>
            </a:pPr>
            <a:r>
              <a:rPr lang="en-US" sz="150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hardware CNC est devenu quasi gratuit (FluidNC/ESP32), et le function-calling des LLM rend enfin le pilotage en langage naturel fiable.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L'IP de Forgeron = la couche de contrôle sûr, pas le modèle.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45566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Forgeron · Pitch UNIPOD AI 2024 —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F6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33856" y="420624"/>
            <a:ext cx="10506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55096" cy="1051560"/>
          </a:xfrm>
          <a:prstGeom prst="roundRect">
            <a:avLst>
              <a:gd name="adj" fmla="val 7826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81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2304288" y="14173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Afrique — ateliers, fablabs, écoles techniques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76288" y="141732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~150 000 unités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878824" y="1417320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15 Mds FCFA / an
</a:t>
            </a:r>
            <a:pPr algn="r" indent="0" marL="0">
              <a:buNone/>
            </a:pPr>
            <a:r>
              <a:rPr lang="en-US" sz="1200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25 M$ / an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587752"/>
            <a:ext cx="11055096" cy="1051560"/>
          </a:xfrm>
          <a:prstGeom prst="roundRect">
            <a:avLst>
              <a:gd name="adj" fmla="val 7826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752344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8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2304288" y="2587752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Afrique de l'Ouest francophone (3–5 ans)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76288" y="2587752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~15 000 unités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878824" y="2587752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1,5 Md FCFA / an
</a:t>
            </a:r>
            <a:pPr algn="r" indent="0" marL="0">
              <a:buNone/>
            </a:pPr>
            <a:r>
              <a:rPr lang="en-US" sz="1200" dirty="0">
                <a:solidFill>
                  <a:srgbClr val="FF8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2,5 M$ / an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3758184"/>
            <a:ext cx="11055096" cy="1051560"/>
          </a:xfrm>
          <a:prstGeom prst="roundRect">
            <a:avLst>
              <a:gd name="adj" fmla="val 7826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3922776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2304288" y="3758184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 + amorçage régional (2 ans, +40 %/an)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76288" y="3758184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~300 unités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878824" y="3758184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M FCFA / an
</a:t>
            </a:r>
            <a:pPr algn="r" indent="0" marL="0">
              <a:buNone/>
            </a:pPr>
            <a:r>
              <a:rPr lang="en-US" sz="120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50 k$ / an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074920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Estimations à valider (customer discovery / parcours Wadhwani). Hypothèse : revenu moyen ≈ 100 000 FCFA / client / an (abonnement Pro + hardware amorti).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45566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Forgeron · Pitch UNIPOD AI 2024 —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F6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33856" y="420624"/>
            <a:ext cx="10506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2558034" cy="2743200"/>
          </a:xfrm>
          <a:prstGeom prst="roundRect">
            <a:avLst>
              <a:gd name="adj" fmla="val 3217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71625" y="182880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FF6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514600"/>
            <a:ext cx="2283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freemium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3108960"/>
            <a:ext cx="21922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de base gratuit → adoption virale dans les fablabs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106674" y="265176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99282" y="1554480"/>
            <a:ext cx="2558034" cy="2743200"/>
          </a:xfrm>
          <a:prstGeom prst="roundRect">
            <a:avLst>
              <a:gd name="adj" fmla="val 3217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03979" y="182880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FF8C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536442" y="2514600"/>
            <a:ext cx="2283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Abonnement Pro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82162" y="3108960"/>
            <a:ext cx="21922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IA, multi-machines, analytics avancés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39028" y="265176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31636" y="1554480"/>
            <a:ext cx="2558034" cy="2743200"/>
          </a:xfrm>
          <a:prstGeom prst="roundRect">
            <a:avLst>
              <a:gd name="adj" fmla="val 3217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36333" y="182880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FFB3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514600"/>
            <a:ext cx="2283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Bundles hardware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14516" y="3108960"/>
            <a:ext cx="21922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+ drivers pré-flashés et calibrés (certifiés)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771382" y="265176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63990" y="1554480"/>
            <a:ext cx="2558034" cy="2743200"/>
          </a:xfrm>
          <a:prstGeom prst="roundRect">
            <a:avLst>
              <a:gd name="adj" fmla="val 3217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68687" y="182880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BE7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201150" y="2514600"/>
            <a:ext cx="2283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46870" y="3108960"/>
            <a:ext cx="21922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Configs machines &amp; macros vérifiées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75488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l'adoption gratuite au revenu récurrent, avec le hardware comme accélérateur — un modèle à faible coût d'entrée pour les ateliers africains.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45566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Forgeron · Pitch UNIPOD AI 2024 —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F6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33856" y="420624"/>
            <a:ext cx="10506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 au marché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600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Cibles prioritaires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86968" y="205740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Fablabs &amp; makerspaces (réseau AfriLabs)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Écoles techniques &amp; TVET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Ateliers d'usinage &amp; PME (via Kouratechnique)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Fabricants de kits CNC (2e temps)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309360" y="1417320"/>
            <a:ext cx="5312664" cy="3840480"/>
          </a:xfrm>
          <a:prstGeom prst="roundRect">
            <a:avLst>
              <a:gd name="adj" fmla="val 2143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Canaux &amp; phasage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057400"/>
            <a:ext cx="485546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Démos &amp; vidéos courtes, bouche-à-oreille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Partenariats institutionnels (écoles, hubs)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Bundles certifiés = entrée hardware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Phasage : Mali → Afrique de l'Ouest francophone → continent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645566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Forgeron · Pitch UNIPOD AI 2024 —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F6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33856" y="420624"/>
            <a:ext cx="10506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Positionnement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5096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862072"/>
                <a:gridCol w="2862072"/>
                <a:gridCol w="286207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6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Contrôleurs propriétaires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6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Senders GRBL gratuits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6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8C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Forgeron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64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6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567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5 000–50 000 $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B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 / gratuit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B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~8 $ + app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E3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axes réels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6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B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567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B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E3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 / langage naturel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6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567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567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B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E3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Sécurité anti-collision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6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AEC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 (fermée)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567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B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Lookahead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E3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Ouvert &amp; abordable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6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567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AEC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Ouvert mais limité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B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418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E3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521208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algn="ctr" indent="0" marL="0">
              <a:buNone/>
            </a:pPr>
            <a:r>
              <a:rPr lang="en-US" sz="150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Forgeron occupe le trou du marché :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abordable + 5 axes + IA sûre.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645566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Forgeron · Pitch UNIPOD AI 2024 —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1EBE7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33856" y="420624"/>
            <a:ext cx="10506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2800" dirty="0"/>
          </a:p>
        </p:txBody>
      </p:sp>
      <p:pic>
        <p:nvPicPr>
          <p:cNvPr id="4" name="Image 0" descr="/home/user/forgeron/scratch/mach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2834640" cy="4023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440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5-axes réelle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840480" y="1371600"/>
            <a:ext cx="7781544" cy="2788920"/>
          </a:xfrm>
          <a:prstGeom prst="roundRect">
            <a:avLst>
              <a:gd name="adj" fmla="val 2951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069080" y="153619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B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Déjà accompli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114800" y="1920240"/>
            <a:ext cx="723290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3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5-axes physique construite &amp; fonctionnelle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3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 contrôle + agent IA opérationnels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3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 de démonstration publiée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3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open-source (GitHub)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3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1er partenaire intéressé : Kouratechnique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3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de 2 (ingénieur + technicien)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3840480" y="4343400"/>
            <a:ext cx="7781544" cy="1097280"/>
          </a:xfrm>
          <a:prstGeom prst="roundRect">
            <a:avLst>
              <a:gd name="adj" fmla="val 7500"/>
            </a:avLst>
          </a:prstGeom>
          <a:solidFill>
            <a:srgbClr val="2B3644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069080" y="4343400"/>
            <a:ext cx="7324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 : </a:t>
            </a:r>
            <a:pPr indent="0" marL="0">
              <a:buNone/>
            </a:pPr>
            <a:r>
              <a:rPr lang="en-US" sz="13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pilotes clients réels · durcissement &amp; edge de l'agent IA · lettre de partenariat.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645566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Forgeron · Pitch UNIPOD AI 2024 —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F6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33856" y="420624"/>
            <a:ext cx="10506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L'équipe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253228" cy="3108960"/>
          </a:xfrm>
          <a:prstGeom prst="roundRect">
            <a:avLst>
              <a:gd name="adj" fmla="val 2647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90622" y="1828800"/>
            <a:ext cx="1005840" cy="1005840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90622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971800"/>
            <a:ext cx="48874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Lamine SACKO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383280"/>
            <a:ext cx="48874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Fondateur &amp; Ingénieur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3749040"/>
            <a:ext cx="46131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Application, agent IA, firmware/FluidNC, systèmes temps réel. A construit Forgeron de bout en bout.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68796" y="1554480"/>
            <a:ext cx="5253228" cy="3108960"/>
          </a:xfrm>
          <a:prstGeom prst="roundRect">
            <a:avLst>
              <a:gd name="adj" fmla="val 2647"/>
            </a:avLst>
          </a:prstGeom>
          <a:solidFill>
            <a:srgbClr val="242E3B"/>
          </a:solidFill>
          <a:ln w="12700">
            <a:solidFill>
              <a:srgbClr val="2B36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92490" y="1828800"/>
            <a:ext cx="1005840" cy="1005840"/>
          </a:xfrm>
          <a:prstGeom prst="ellipse">
            <a:avLst/>
          </a:prstGeom>
          <a:solidFill>
            <a:srgbClr val="FF8C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92490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551676" y="2971800"/>
            <a:ext cx="48874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Aboubacar DIAMOUTÉNÉ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551676" y="3383280"/>
            <a:ext cx="48874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8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Technicien électronique &amp; assemblage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688836" y="3749040"/>
            <a:ext cx="46131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Câblage, drivers moteurs (TB6600), montage et tests de la machine 5-axes.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89204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Partenaire : </a:t>
            </a:r>
            <a:pPr algn="ctr" indent="0" marL="0">
              <a:buNone/>
            </a:pPr>
            <a:r>
              <a:rPr lang="en-US" sz="1300" b="1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Kouratechnique</a:t>
            </a:r>
            <a:pPr algn="ct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(atelier / terrain de test).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45566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Forgeron · Pitch UNIPOD AI 2024 —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65592" y="3200400"/>
            <a:ext cx="4754880" cy="4754880"/>
          </a:xfrm>
          <a:prstGeom prst="roundRect">
            <a:avLst>
              <a:gd name="adj" fmla="val 50000"/>
            </a:avLst>
          </a:prstGeom>
          <a:solidFill>
            <a:srgbClr val="FF6A1A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20624"/>
            <a:ext cx="10506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demande &amp; vision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programme UNIPOD AI nous apporte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91640"/>
            <a:ext cx="411480" cy="411480"/>
          </a:xfrm>
          <a:prstGeom prst="roundRect">
            <a:avLst>
              <a:gd name="adj" fmla="val 15556"/>
            </a:avLst>
          </a:prstGeom>
          <a:solidFill>
            <a:srgbClr val="FF6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167335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Skilling IA — </a:t>
            </a:r>
            <a:pPr indent="0" marL="0">
              <a:buNone/>
            </a:pPr>
            <a:r>
              <a:rPr lang="en-US" sz="140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AI Institute — durcir l'agent, viser l'edge / on-device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258568"/>
            <a:ext cx="411480" cy="411480"/>
          </a:xfrm>
          <a:prstGeom prst="roundRect">
            <a:avLst>
              <a:gd name="adj" fmla="val 15556"/>
            </a:avLst>
          </a:prstGeom>
          <a:solidFill>
            <a:srgbClr val="FF6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2402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Wadhwani (14 sem.) — </a:t>
            </a:r>
            <a:pPr indent="0" marL="0">
              <a:buNone/>
            </a:pPr>
            <a:r>
              <a:rPr lang="en-US" sz="140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→ venture : customer discovery, business model, go-to-market, investment readiness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825496"/>
            <a:ext cx="411480" cy="411480"/>
          </a:xfrm>
          <a:prstGeom prst="roundRect">
            <a:avLst>
              <a:gd name="adj" fmla="val 15556"/>
            </a:avLst>
          </a:prstGeom>
          <a:solidFill>
            <a:srgbClr val="FF6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280720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timbuktoo — </a:t>
            </a:r>
            <a:pPr indent="0" marL="0">
              <a:buNone/>
            </a:pPr>
            <a:r>
              <a:rPr lang="en-US" sz="140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mentors, bootcamp d'Addis-Abeba, écosystème &amp; investisseurs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611880"/>
            <a:ext cx="11055096" cy="1234440"/>
          </a:xfrm>
          <a:prstGeom prst="roundRect">
            <a:avLst>
              <a:gd name="adj" fmla="val 7407"/>
            </a:avLst>
          </a:prstGeom>
          <a:solidFill>
            <a:srgbClr val="242E3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6968" y="3611880"/>
            <a:ext cx="104150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2–3 ans : </a:t>
            </a:r>
            <a:pPr indent="0" marL="0">
              <a:buNone/>
            </a:pPr>
            <a:r>
              <a:rPr lang="en-US" sz="1550" dirty="0">
                <a:solidFill>
                  <a:srgbClr val="EA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contrôleurs Forgeron dans les ateliers d'Afrique de l'Ouest et de l'Est — produire localement ce qui est aujourd'hui importé, et créer des emplois qualifiés.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12064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Lamine SACKO</a:t>
            </a:r>
            <a:pPr indent="0" marL="0">
              <a:buNone/>
            </a:pPr>
            <a:r>
              <a:rPr lang="en-US" sz="12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sackolamine994@gmail.com   ·   Mali   ·   github.com/professeurp2/forgeron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5321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8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Forgeron — construisons l'IA qui façonne l'avenir industriel de l'Afrique.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2026-08-29T14:57:48Z</dcterms:created>
  <dcterms:modified xsi:type="dcterms:W3CDTF">2026-08-29T14:57:48Z</dcterms:modified>
</cp:coreProperties>
</file>